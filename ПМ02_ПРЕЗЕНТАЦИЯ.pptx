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-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sp.net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9470" y="1394254"/>
            <a:ext cx="11936627" cy="788773"/>
          </a:xfrm>
        </p:spPr>
        <p:txBody>
          <a:bodyPr>
            <a:noAutofit/>
          </a:bodyPr>
          <a:lstStyle/>
          <a:p>
            <a:pPr algn="ctr"/>
            <a:r>
              <a:rPr lang="ru-RU" sz="4200" dirty="0"/>
              <a:t>Производственная практика ПМ.02</a:t>
            </a:r>
            <a:r>
              <a:rPr lang="ru-RU" sz="4200" dirty="0"/>
              <a:t/>
            </a:r>
            <a:br>
              <a:rPr lang="ru-RU" sz="4200" dirty="0"/>
            </a:br>
            <a:r>
              <a:rPr lang="ru-RU" sz="4200" dirty="0"/>
              <a:t>Осуществление интеграции </a:t>
            </a:r>
            <a:r>
              <a:rPr lang="en-US" sz="4200" dirty="0" smtClean="0"/>
              <a:t/>
            </a:r>
            <a:br>
              <a:rPr lang="en-US" sz="4200" dirty="0" smtClean="0"/>
            </a:br>
            <a:r>
              <a:rPr lang="ru-RU" sz="4200" dirty="0" smtClean="0"/>
              <a:t>программных </a:t>
            </a:r>
            <a:r>
              <a:rPr lang="ru-RU" sz="4200" dirty="0"/>
              <a:t>модулей</a:t>
            </a:r>
            <a:endParaRPr lang="ru-RU" sz="4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56510" y="2437833"/>
            <a:ext cx="10112418" cy="1126283"/>
          </a:xfrm>
        </p:spPr>
        <p:txBody>
          <a:bodyPr>
            <a:normAutofit/>
          </a:bodyPr>
          <a:lstStyle/>
          <a:p>
            <a:r>
              <a:rPr lang="ru-RU" sz="2500" b="1" dirty="0"/>
              <a:t>Разработка модуля учёта готовой продукции на складе</a:t>
            </a:r>
            <a:endParaRPr lang="ru-RU" sz="2500" b="1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700083" y="3390554"/>
            <a:ext cx="8915399" cy="11262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100" dirty="0"/>
              <a:t>Студент: Кононов Тимофей Александрович</a:t>
            </a:r>
          </a:p>
          <a:p>
            <a:r>
              <a:rPr lang="ru-RU" sz="2100" dirty="0"/>
              <a:t>Группа: 23П-1</a:t>
            </a:r>
          </a:p>
          <a:p>
            <a:r>
              <a:rPr lang="ru-RU" sz="2100" dirty="0"/>
              <a:t>Специальность: 09.02.07 Информационные системы и программирование</a:t>
            </a:r>
          </a:p>
          <a:p>
            <a:r>
              <a:rPr lang="ru-RU" sz="2100" dirty="0"/>
              <a:t>Колледж: КОГПОБУ «Слободской колледж педагогики и социальных отношений»</a:t>
            </a:r>
          </a:p>
          <a:p>
            <a:r>
              <a:rPr lang="ru-RU" sz="2100" dirty="0"/>
              <a:t>Место практики: АО «Красный Якорь»</a:t>
            </a:r>
          </a:p>
          <a:p>
            <a:r>
              <a:rPr lang="ru-RU" sz="2100" dirty="0"/>
              <a:t>Год: 2026</a:t>
            </a:r>
          </a:p>
        </p:txBody>
      </p:sp>
    </p:spTree>
    <p:extLst>
      <p:ext uri="{BB962C8B-B14F-4D97-AF65-F5344CB8AC3E}">
        <p14:creationId xmlns:p14="http://schemas.microsoft.com/office/powerpoint/2010/main" val="175412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7909" y="138078"/>
            <a:ext cx="10488761" cy="128089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Цель</a:t>
            </a:r>
            <a:r>
              <a:rPr lang="en-US" dirty="0" smtClean="0"/>
              <a:t>: </a:t>
            </a:r>
            <a:r>
              <a:rPr lang="ru-RU" dirty="0" smtClean="0"/>
              <a:t>Разработать </a:t>
            </a:r>
            <a:r>
              <a:rPr lang="ru-RU" dirty="0"/>
              <a:t>программный модуль для учёта готовой продукции на складе с использованием клиент-серверной архитектуры.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7909" y="1993556"/>
            <a:ext cx="8915400" cy="3777622"/>
          </a:xfrm>
        </p:spPr>
        <p:txBody>
          <a:bodyPr/>
          <a:lstStyle/>
          <a:p>
            <a:r>
              <a:rPr lang="ru-RU" dirty="0"/>
              <a:t>Проанализировать предметную область</a:t>
            </a:r>
          </a:p>
          <a:p>
            <a:r>
              <a:rPr lang="ru-RU" dirty="0"/>
              <a:t>Спроектировать базу данных</a:t>
            </a:r>
          </a:p>
          <a:p>
            <a:r>
              <a:rPr lang="ru-RU" dirty="0"/>
              <a:t>Разработать клиентское приложение (WPF)</a:t>
            </a:r>
          </a:p>
          <a:p>
            <a:r>
              <a:rPr lang="ru-RU" dirty="0"/>
              <a:t>Разработать серверную часть (</a:t>
            </a:r>
            <a:r>
              <a:rPr lang="ru-RU" dirty="0" err="1"/>
              <a:t>Web</a:t>
            </a:r>
            <a:r>
              <a:rPr lang="ru-RU" dirty="0"/>
              <a:t> API)</a:t>
            </a:r>
          </a:p>
          <a:p>
            <a:r>
              <a:rPr lang="ru-RU" dirty="0"/>
              <a:t>Написать модульные тесты</a:t>
            </a:r>
          </a:p>
          <a:p>
            <a:r>
              <a:rPr lang="ru-RU" dirty="0"/>
              <a:t>Проверить работу через </a:t>
            </a:r>
            <a:r>
              <a:rPr lang="ru-RU" dirty="0" err="1"/>
              <a:t>Postman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0245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Проектирование базы данных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9925" y="1573427"/>
            <a:ext cx="8915400" cy="3777622"/>
          </a:xfrm>
        </p:spPr>
        <p:txBody>
          <a:bodyPr/>
          <a:lstStyle/>
          <a:p>
            <a:r>
              <a:rPr lang="ru-RU" dirty="0"/>
              <a:t>Спроектированы таблицы: Продукция, Склады, Сотрудники, Покупатели, Остатки, Поступления, </a:t>
            </a:r>
            <a:r>
              <a:rPr lang="ru-RU" dirty="0" smtClean="0"/>
              <a:t>Отгрузки</a:t>
            </a:r>
            <a:endParaRPr lang="ru-RU" dirty="0"/>
          </a:p>
          <a:p>
            <a:r>
              <a:rPr lang="ru-RU" dirty="0"/>
              <a:t>Добавлены внешние ключи для целостности </a:t>
            </a:r>
            <a:r>
              <a:rPr lang="ru-RU" dirty="0" smtClean="0"/>
              <a:t>данных</a:t>
            </a:r>
            <a:endParaRPr lang="ru-RU" dirty="0"/>
          </a:p>
          <a:p>
            <a:r>
              <a:rPr lang="ru-RU" dirty="0"/>
              <a:t>Создана БД Uchet_Faneri_02 в </a:t>
            </a:r>
            <a:r>
              <a:rPr lang="ru-RU" dirty="0" err="1"/>
              <a:t>Microsoft</a:t>
            </a:r>
            <a:r>
              <a:rPr lang="ru-RU" dirty="0"/>
              <a:t> SQL </a:t>
            </a:r>
            <a:r>
              <a:rPr lang="ru-RU" dirty="0" err="1" smtClean="0"/>
              <a:t>Server</a:t>
            </a:r>
            <a:endParaRPr lang="ru-RU" dirty="0"/>
          </a:p>
          <a:p>
            <a:r>
              <a:rPr lang="ru-RU" dirty="0"/>
              <a:t>Импортированы тестовые данные 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827" y="3020168"/>
            <a:ext cx="4615961" cy="363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8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7552" y="360499"/>
            <a:ext cx="8911687" cy="1280890"/>
          </a:xfrm>
        </p:spPr>
        <p:txBody>
          <a:bodyPr/>
          <a:lstStyle/>
          <a:p>
            <a:r>
              <a:rPr lang="ru-RU" b="1" dirty="0"/>
              <a:t>Клиентское приложение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6588" y="1237735"/>
            <a:ext cx="7061780" cy="3777622"/>
          </a:xfrm>
        </p:spPr>
        <p:txBody>
          <a:bodyPr/>
          <a:lstStyle/>
          <a:p>
            <a:r>
              <a:rPr lang="ru-RU" dirty="0"/>
              <a:t>Разработано на WPF (.NET </a:t>
            </a:r>
            <a:r>
              <a:rPr lang="ru-RU" dirty="0" err="1"/>
              <a:t>Framework</a:t>
            </a:r>
            <a:r>
              <a:rPr lang="ru-RU" dirty="0"/>
              <a:t> 4.8)</a:t>
            </a:r>
          </a:p>
          <a:p>
            <a:r>
              <a:rPr lang="ru-RU" dirty="0"/>
              <a:t>Реализованы окна:</a:t>
            </a:r>
          </a:p>
          <a:p>
            <a:pPr lvl="1"/>
            <a:r>
              <a:rPr lang="ru-RU" dirty="0"/>
              <a:t>Продукция (просмотр, добавление, удаление)</a:t>
            </a:r>
          </a:p>
          <a:p>
            <a:pPr lvl="1"/>
            <a:r>
              <a:rPr lang="ru-RU" dirty="0"/>
              <a:t>Остатки (просмотр)</a:t>
            </a:r>
          </a:p>
          <a:p>
            <a:pPr lvl="1"/>
            <a:r>
              <a:rPr lang="ru-RU" dirty="0"/>
              <a:t>Поступления (просмотр, добавление, удаление)</a:t>
            </a:r>
          </a:p>
          <a:p>
            <a:pPr lvl="1"/>
            <a:r>
              <a:rPr lang="ru-RU" dirty="0"/>
              <a:t>Отгрузки (просмотр, добавление, удаление)</a:t>
            </a:r>
          </a:p>
          <a:p>
            <a:r>
              <a:rPr lang="ru-RU" dirty="0"/>
              <a:t>При </a:t>
            </a:r>
            <a:r>
              <a:rPr lang="ru-RU" dirty="0" err="1"/>
              <a:t>автообновлении</a:t>
            </a:r>
            <a:r>
              <a:rPr lang="ru-RU" dirty="0"/>
              <a:t> остатков данные синхронизируются с БД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3"/>
          <a:stretch/>
        </p:blipFill>
        <p:spPr>
          <a:xfrm>
            <a:off x="7188508" y="1137392"/>
            <a:ext cx="4387404" cy="409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6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Серверная часть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556" y="4236739"/>
            <a:ext cx="7754432" cy="2438740"/>
          </a:xfrm>
        </p:spPr>
      </p:pic>
      <p:sp>
        <p:nvSpPr>
          <p:cNvPr id="5" name="Прямоугольник 4"/>
          <p:cNvSpPr/>
          <p:nvPr/>
        </p:nvSpPr>
        <p:spPr>
          <a:xfrm>
            <a:off x="1466335" y="1374417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Разработан на </a:t>
            </a:r>
            <a:r>
              <a:rPr lang="en-US" dirty="0">
                <a:solidFill>
                  <a:srgbClr val="679EFE"/>
                </a:solidFill>
                <a:latin typeface="quote-cjk-patch"/>
                <a:hlinkClick r:id="rId3"/>
              </a:rPr>
              <a:t>ASP.NET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 Core (.NET 8.0)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Реализованы </a:t>
            </a:r>
            <a:r>
              <a:rPr lang="ru-RU" dirty="0" err="1">
                <a:solidFill>
                  <a:srgbClr val="F9FAFB"/>
                </a:solidFill>
                <a:latin typeface="quote-cjk-patch"/>
              </a:rPr>
              <a:t>эндпоинты</a:t>
            </a:r>
            <a:r>
              <a:rPr lang="ru-RU" dirty="0">
                <a:solidFill>
                  <a:srgbClr val="F9FAFB"/>
                </a:solidFill>
                <a:latin typeface="quote-cjk-patch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9FAFB"/>
                </a:solidFill>
                <a:latin typeface="quote-cjk-patch"/>
              </a:rPr>
              <a:t>GET /</a:t>
            </a:r>
            <a:r>
              <a:rPr lang="en-US" dirty="0" err="1">
                <a:solidFill>
                  <a:srgbClr val="F9FAFB"/>
                </a:solidFill>
                <a:latin typeface="quote-cjk-patch"/>
              </a:rPr>
              <a:t>api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/products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9FAFB"/>
                </a:solidFill>
                <a:latin typeface="quote-cjk-patch"/>
              </a:rPr>
              <a:t>GET /</a:t>
            </a:r>
            <a:r>
              <a:rPr lang="en-US" dirty="0" err="1">
                <a:solidFill>
                  <a:srgbClr val="F9FAFB"/>
                </a:solidFill>
                <a:latin typeface="quote-cjk-patch"/>
              </a:rPr>
              <a:t>api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/stock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9FAFB"/>
                </a:solidFill>
                <a:latin typeface="quote-cjk-patch"/>
              </a:rPr>
              <a:t>GET /</a:t>
            </a:r>
            <a:r>
              <a:rPr lang="en-US" dirty="0" err="1">
                <a:solidFill>
                  <a:srgbClr val="F9FAFB"/>
                </a:solidFill>
                <a:latin typeface="quote-cjk-patch"/>
              </a:rPr>
              <a:t>api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/receipts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9FAFB"/>
                </a:solidFill>
                <a:latin typeface="quote-cjk-patch"/>
              </a:rPr>
              <a:t>GET /</a:t>
            </a:r>
            <a:r>
              <a:rPr lang="en-US" dirty="0" err="1">
                <a:solidFill>
                  <a:srgbClr val="F9FAFB"/>
                </a:solidFill>
                <a:latin typeface="quote-cjk-patch"/>
              </a:rPr>
              <a:t>api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/shipments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9FAFB"/>
                </a:solidFill>
                <a:latin typeface="quote-cjk-patch"/>
              </a:rPr>
              <a:t>POST /</a:t>
            </a:r>
            <a:r>
              <a:rPr lang="en-US" dirty="0" err="1">
                <a:solidFill>
                  <a:srgbClr val="F9FAFB"/>
                </a:solidFill>
                <a:latin typeface="quote-cjk-patch"/>
              </a:rPr>
              <a:t>api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/products, /</a:t>
            </a:r>
            <a:r>
              <a:rPr lang="en-US" dirty="0" err="1">
                <a:solidFill>
                  <a:srgbClr val="F9FAFB"/>
                </a:solidFill>
                <a:latin typeface="quote-cjk-patch"/>
              </a:rPr>
              <a:t>api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/receipts, /</a:t>
            </a:r>
            <a:r>
              <a:rPr lang="en-US" dirty="0" err="1">
                <a:solidFill>
                  <a:srgbClr val="F9FAFB"/>
                </a:solidFill>
                <a:latin typeface="quote-cjk-patch"/>
              </a:rPr>
              <a:t>api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/shipments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9FAFB"/>
                </a:solidFill>
                <a:latin typeface="quote-cjk-patch"/>
              </a:rPr>
              <a:t>DELETE /</a:t>
            </a:r>
            <a:r>
              <a:rPr lang="en-US" dirty="0" err="1">
                <a:solidFill>
                  <a:srgbClr val="F9FAFB"/>
                </a:solidFill>
                <a:latin typeface="quote-cjk-patch"/>
              </a:rPr>
              <a:t>api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/products/{id}, /</a:t>
            </a:r>
            <a:r>
              <a:rPr lang="en-US" dirty="0" err="1">
                <a:solidFill>
                  <a:srgbClr val="F9FAFB"/>
                </a:solidFill>
                <a:latin typeface="quote-cjk-patch"/>
              </a:rPr>
              <a:t>api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/receipts/{id}, /</a:t>
            </a:r>
            <a:r>
              <a:rPr lang="en-US" dirty="0" err="1">
                <a:solidFill>
                  <a:srgbClr val="F9FAFB"/>
                </a:solidFill>
                <a:latin typeface="quote-cjk-patch"/>
              </a:rPr>
              <a:t>api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/shipments/{id}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Данные возвращаются в формате 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JSON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20334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53314" y="352262"/>
            <a:ext cx="8911687" cy="1280890"/>
          </a:xfrm>
        </p:spPr>
        <p:txBody>
          <a:bodyPr/>
          <a:lstStyle/>
          <a:p>
            <a:r>
              <a:rPr lang="ru-RU" b="1" dirty="0"/>
              <a:t>Тестирование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8077" y="1392195"/>
            <a:ext cx="5912237" cy="3777622"/>
          </a:xfrm>
        </p:spPr>
        <p:txBody>
          <a:bodyPr/>
          <a:lstStyle/>
          <a:p>
            <a:r>
              <a:rPr lang="ru-RU" b="1" dirty="0"/>
              <a:t>Модульное тестирование (</a:t>
            </a:r>
            <a:r>
              <a:rPr lang="ru-RU" b="1" dirty="0" err="1"/>
              <a:t>MSTest</a:t>
            </a:r>
            <a:r>
              <a:rPr lang="ru-RU" b="1" dirty="0"/>
              <a:t>):</a:t>
            </a:r>
            <a:endParaRPr lang="ru-RU" dirty="0"/>
          </a:p>
          <a:p>
            <a:r>
              <a:rPr lang="ru-RU" dirty="0"/>
              <a:t>7 тестов: подключение к БД, получение данных, добавление записей</a:t>
            </a:r>
          </a:p>
          <a:p>
            <a:r>
              <a:rPr lang="ru-RU" dirty="0"/>
              <a:t>Все тесты пройдены успешно ✅</a:t>
            </a:r>
          </a:p>
          <a:p>
            <a:r>
              <a:rPr lang="ru-RU" b="1" dirty="0"/>
              <a:t>Ручное тестирование:</a:t>
            </a:r>
            <a:endParaRPr lang="ru-RU" dirty="0"/>
          </a:p>
          <a:p>
            <a:r>
              <a:rPr lang="ru-RU" dirty="0"/>
              <a:t>Проверка всех функций через интерфейс</a:t>
            </a:r>
          </a:p>
          <a:p>
            <a:r>
              <a:rPr lang="ru-RU" dirty="0"/>
              <a:t>Тест-кейсы: просмотр, добавление, удаление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429" y="3561065"/>
            <a:ext cx="4366637" cy="321750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429" y="882961"/>
            <a:ext cx="4848291" cy="267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9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Тестирование через </a:t>
            </a:r>
            <a:r>
              <a:rPr lang="en-US" b="1" dirty="0"/>
              <a:t>Postman</a:t>
            </a:r>
            <a:br>
              <a:rPr lang="en-US" b="1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195" y="2792628"/>
            <a:ext cx="4765221" cy="3778250"/>
          </a:xfrm>
        </p:spPr>
      </p:pic>
      <p:sp>
        <p:nvSpPr>
          <p:cNvPr id="5" name="Прямоугольник 4"/>
          <p:cNvSpPr/>
          <p:nvPr/>
        </p:nvSpPr>
        <p:spPr>
          <a:xfrm>
            <a:off x="1021492" y="1710034"/>
            <a:ext cx="566763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F9FAFB"/>
                </a:solidFill>
                <a:latin typeface="quote-cjk-patch"/>
              </a:rPr>
              <a:t>Что проверяли:</a:t>
            </a:r>
            <a:endParaRPr lang="ru-RU" dirty="0">
              <a:solidFill>
                <a:srgbClr val="F9FAFB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GET-запросы к API (продукция, остатки, поступления, отгрузки)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POST-запросы </a:t>
            </a:r>
            <a:endParaRPr lang="en-US" dirty="0" smtClean="0">
              <a:solidFill>
                <a:srgbClr val="F9FAFB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F9FAFB"/>
                </a:solidFill>
                <a:latin typeface="quote-cjk-patch"/>
              </a:rPr>
              <a:t>DELETE-запросы 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746696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53704" y="573776"/>
            <a:ext cx="8911687" cy="1280890"/>
          </a:xfrm>
        </p:spPr>
        <p:txBody>
          <a:bodyPr/>
          <a:lstStyle/>
          <a:p>
            <a:r>
              <a:rPr lang="ru-RU" b="1" dirty="0"/>
              <a:t>Итоги и выводы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53704" y="2265727"/>
            <a:ext cx="10756085" cy="4061254"/>
          </a:xfrm>
        </p:spPr>
        <p:txBody>
          <a:bodyPr/>
          <a:lstStyle/>
          <a:p>
            <a:r>
              <a:rPr lang="ru-RU" dirty="0"/>
              <a:t>Проведён анализ предметной области</a:t>
            </a:r>
          </a:p>
          <a:p>
            <a:r>
              <a:rPr lang="ru-RU" dirty="0"/>
              <a:t>Спроектирована база данных </a:t>
            </a:r>
            <a:endParaRPr lang="en-US" dirty="0"/>
          </a:p>
          <a:p>
            <a:r>
              <a:rPr lang="ru-RU" dirty="0" smtClean="0"/>
              <a:t>Разработано </a:t>
            </a:r>
            <a:r>
              <a:rPr lang="ru-RU" dirty="0"/>
              <a:t>клиентское приложение </a:t>
            </a:r>
            <a:endParaRPr lang="en-US" dirty="0" smtClean="0"/>
          </a:p>
          <a:p>
            <a:r>
              <a:rPr lang="ru-RU" dirty="0" smtClean="0"/>
              <a:t>Разработан </a:t>
            </a:r>
            <a:r>
              <a:rPr lang="ru-RU" dirty="0" err="1"/>
              <a:t>Web</a:t>
            </a:r>
            <a:r>
              <a:rPr lang="ru-RU" dirty="0"/>
              <a:t> API сервер </a:t>
            </a:r>
            <a:endParaRPr lang="en-US" dirty="0" smtClean="0"/>
          </a:p>
          <a:p>
            <a:r>
              <a:rPr lang="ru-RU" dirty="0" smtClean="0"/>
              <a:t>Написаны </a:t>
            </a:r>
            <a:r>
              <a:rPr lang="ru-RU" dirty="0"/>
              <a:t>модульные тесты </a:t>
            </a:r>
            <a:endParaRPr lang="en-US" dirty="0" smtClean="0"/>
          </a:p>
          <a:p>
            <a:r>
              <a:rPr lang="ru-RU" dirty="0" smtClean="0"/>
              <a:t>Проверена </a:t>
            </a:r>
            <a:r>
              <a:rPr lang="ru-RU" dirty="0"/>
              <a:t>работа через </a:t>
            </a:r>
            <a:r>
              <a:rPr lang="ru-RU" dirty="0" err="1" smtClean="0"/>
              <a:t>Postman</a:t>
            </a:r>
            <a:endParaRPr lang="ru-RU" dirty="0"/>
          </a:p>
          <a:p>
            <a:r>
              <a:rPr lang="ru-RU" dirty="0"/>
              <a:t>Выполнена интеграция клиента и сервера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448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64913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</TotalTime>
  <Words>329</Words>
  <Application>Microsoft Office PowerPoint</Application>
  <PresentationFormat>Широкоэкранный</PresentationFormat>
  <Paragraphs>58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quote-cjk-patch</vt:lpstr>
      <vt:lpstr>Wingdings 3</vt:lpstr>
      <vt:lpstr>Легкий дым</vt:lpstr>
      <vt:lpstr>Производственная практика ПМ.02 Осуществление интеграции  программных модулей</vt:lpstr>
      <vt:lpstr>Цель: Разработать программный модуль для учёта готовой продукции на складе с использованием клиент-серверной архитектуры.</vt:lpstr>
      <vt:lpstr>Проектирование базы данных </vt:lpstr>
      <vt:lpstr>Клиентское приложение </vt:lpstr>
      <vt:lpstr>Серверная часть </vt:lpstr>
      <vt:lpstr>Тестирование </vt:lpstr>
      <vt:lpstr>Тестирование через Postman </vt:lpstr>
      <vt:lpstr>Итоги и выводы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 ПМ.02 Осуществление интеграции  программных модулей</dc:title>
  <dc:creator>Tim Ko</dc:creator>
  <cp:lastModifiedBy>Tim Ko</cp:lastModifiedBy>
  <cp:revision>2</cp:revision>
  <dcterms:created xsi:type="dcterms:W3CDTF">2026-08-31T12:25:56Z</dcterms:created>
  <dcterms:modified xsi:type="dcterms:W3CDTF">2026-08-31T12:35:28Z</dcterms:modified>
</cp:coreProperties>
</file>